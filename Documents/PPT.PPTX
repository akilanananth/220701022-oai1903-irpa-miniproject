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80" r:id="rId2"/>
    <p:sldId id="366" r:id="rId3"/>
    <p:sldId id="380" r:id="rId4"/>
    <p:sldId id="383" r:id="rId5"/>
    <p:sldId id="384" r:id="rId6"/>
    <p:sldId id="385" r:id="rId7"/>
    <p:sldId id="386" r:id="rId8"/>
    <p:sldId id="387" r:id="rId9"/>
    <p:sldId id="388" r:id="rId10"/>
    <p:sldId id="400" r:id="rId11"/>
    <p:sldId id="389" r:id="rId12"/>
    <p:sldId id="390" r:id="rId13"/>
    <p:sldId id="391" r:id="rId14"/>
    <p:sldId id="401" r:id="rId15"/>
    <p:sldId id="392" r:id="rId16"/>
    <p:sldId id="402" r:id="rId17"/>
    <p:sldId id="403" r:id="rId18"/>
    <p:sldId id="393" r:id="rId19"/>
    <p:sldId id="394" r:id="rId20"/>
    <p:sldId id="398" r:id="rId21"/>
    <p:sldId id="395" r:id="rId22"/>
    <p:sldId id="397" r:id="rId23"/>
    <p:sldId id="399" r:id="rId24"/>
    <p:sldId id="28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84" d="100"/>
          <a:sy n="84" d="100"/>
        </p:scale>
        <p:origin x="154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F89CE-3877-DC2E-686B-33ADD55FC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BB0AC-A20C-0A5F-35D8-268A80B1E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FCF99-FF44-689D-1C7C-919D5944015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1F4C3EE-38FC-967F-1A27-93D41A80FEA1}"/>
              </a:ext>
            </a:extLst>
          </p:cNvPr>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2633993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E464-A74A-BC7B-A291-DF33601C4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807EB-6F5B-B8A1-71BE-A55D092B1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D4408-51CF-EDA1-54D6-224EA952419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C74C88D-3678-8233-21D1-E9041568617C}"/>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548960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08DD1-75AD-95F8-7DE5-903E54228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D0BE5-4204-0377-C08E-89524736E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99F7F-0336-8406-8F57-55CC2896D65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B1F935F-CE97-382F-CDED-DBD618D3B18D}"/>
              </a:ext>
            </a:extLst>
          </p:cNvPr>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985479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55DD7-4B31-931A-8A91-D24208366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D95CB-FED2-8FED-6088-0DC0D50BF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60750-0AEF-1E57-6E16-42FA5C3B321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40A35B1-7869-D691-2592-04E651066151}"/>
              </a:ext>
            </a:extLst>
          </p:cNvPr>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4288159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hyperlink" Target="https://youtu.be/lLNNCVCyJKI?si=cpyRREMcVPm5k2sd" TargetMode="External"/><Relationship Id="rId5" Type="http://schemas.openxmlformats.org/officeDocument/2006/relationships/hyperlink" Target="https://youtu.be/23MCncqmMOg?si=E2H195K0dwZLFn6X" TargetMode="External"/><Relationship Id="rId4" Type="http://schemas.openxmlformats.org/officeDocument/2006/relationships/hyperlink" Target="https://youtu.be/2QClGLHLAXg?si=t7qjildRGfQrpRto"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7346547" cy="1631216"/>
            </a:xfrm>
            <a:prstGeom prst="rect">
              <a:avLst/>
            </a:prstGeom>
            <a:noFill/>
          </p:spPr>
          <p:txBody>
            <a:bodyPr wrap="square" rtlCol="0">
              <a:spAutoFit/>
            </a:bodyPr>
            <a:lstStyle/>
            <a:p>
              <a:r>
                <a:rPr lang="en-US" sz="2000" b="1" dirty="0"/>
                <a:t>Your Register No:220701022</a:t>
              </a:r>
            </a:p>
            <a:p>
              <a:r>
                <a:rPr lang="en-US" sz="2000" b="1" dirty="0"/>
                <a:t>Name: Akilan A</a:t>
              </a:r>
            </a:p>
            <a:p>
              <a:r>
                <a:rPr lang="en-US" sz="2000" b="1" dirty="0"/>
                <a:t>Guide Name: Mrs. J. Jinu Sophia</a:t>
              </a:r>
            </a:p>
            <a:p>
              <a:r>
                <a:rPr lang="en-US" sz="2000" b="1" dirty="0"/>
                <a:t>Designation : Assistant Professor (SG)</a:t>
              </a:r>
            </a:p>
            <a:p>
              <a:r>
                <a:rPr lang="en-US" sz="2000" b="1" dirty="0"/>
                <a:t>Department :Computer Science and Engineering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21486" y="2335897"/>
                <a:ext cx="5074479" cy="1569660"/>
              </a:xfrm>
              <a:prstGeom prst="rect">
                <a:avLst/>
              </a:prstGeom>
              <a:noFill/>
            </p:spPr>
            <p:txBody>
              <a:bodyPr wrap="square" rtlCol="0">
                <a:spAutoFit/>
              </a:bodyPr>
              <a:lstStyle/>
              <a:p>
                <a:r>
                  <a:rPr lang="en-US" sz="4800" b="1" dirty="0">
                    <a:solidFill>
                      <a:schemeClr val="bg1"/>
                    </a:solidFill>
                    <a:ea typeface="Open Sans Bold" panose="020B0806030504020204" pitchFamily="34" charset="0"/>
                    <a:cs typeface="Open Sans Bold" panose="020B0806030504020204" pitchFamily="34" charset="0"/>
                  </a:rPr>
                  <a:t>System Monitoring</a:t>
                </a:r>
              </a:p>
              <a:p>
                <a:r>
                  <a:rPr lang="en-US" sz="4800" b="1" dirty="0">
                    <a:solidFill>
                      <a:schemeClr val="bg1"/>
                    </a:solidFill>
                    <a:ea typeface="Open Sans Bold" panose="020B0806030504020204" pitchFamily="34" charset="0"/>
                    <a:cs typeface="Open Sans Bold" panose="020B0806030504020204" pitchFamily="34" charset="0"/>
                  </a:rPr>
                  <a:t>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6065" y="4383644"/>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t>    The System Monitoring Bot is an automated solution designed to monitor system performance metrics such as CPU usage, memory usage, and timestamp. Using UiPath, this bot retrieves real-time data, stores it in an Excel file, and generates visual graphs. The graphs are sent to users via automated email notifications. Additionally, the process is scheduled and managed efficiently through UiPath Orchestrator, ensuring seamless and consistent execution.</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pPr algn="just">
              <a:lnSpc>
                <a:spcPct val="150000"/>
              </a:lnSpc>
            </a:pPr>
            <a:r>
              <a:rPr lang="en-US" dirty="0"/>
              <a:t>Continuous monitoring of system performance is essential for maintaining optimal functionality.</a:t>
            </a:r>
          </a:p>
          <a:p>
            <a:pPr algn="just">
              <a:lnSpc>
                <a:spcPct val="150000"/>
              </a:lnSpc>
            </a:pPr>
            <a:r>
              <a:rPr lang="en-US" dirty="0"/>
              <a:t>Manual tracking is prone to errors and inefficiencies.</a:t>
            </a:r>
          </a:p>
          <a:p>
            <a:pPr algn="just">
              <a:lnSpc>
                <a:spcPct val="150000"/>
              </a:lnSpc>
            </a:pPr>
            <a:r>
              <a:rPr lang="en-US" dirty="0"/>
              <a:t>Businesses require timely insights to take preventive measures.</a:t>
            </a:r>
          </a:p>
          <a:p>
            <a:pPr algn="just">
              <a:lnSpc>
                <a:spcPct val="150000"/>
              </a:lnSpc>
            </a:pPr>
            <a:r>
              <a:rPr lang="en-US" dirty="0"/>
              <a:t>Automated solutions reduce manual workload, improve accuracy, and ensure real-time reporting.</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pPr algn="just">
              <a:lnSpc>
                <a:spcPct val="150000"/>
              </a:lnSpc>
            </a:pPr>
            <a:r>
              <a:rPr lang="en-US" b="1" dirty="0"/>
              <a:t>Real-Time Monitoring: </a:t>
            </a:r>
            <a:r>
              <a:rPr lang="en-US" dirty="0"/>
              <a:t>Captures system metrics with precision.</a:t>
            </a:r>
          </a:p>
          <a:p>
            <a:pPr algn="just">
              <a:lnSpc>
                <a:spcPct val="150000"/>
              </a:lnSpc>
            </a:pPr>
            <a:r>
              <a:rPr lang="en-US" b="1" dirty="0"/>
              <a:t>Error Reduction: </a:t>
            </a:r>
            <a:r>
              <a:rPr lang="en-US" dirty="0"/>
              <a:t>Minimizes human errors in data collection.</a:t>
            </a:r>
          </a:p>
          <a:p>
            <a:pPr algn="just">
              <a:lnSpc>
                <a:spcPct val="150000"/>
              </a:lnSpc>
            </a:pPr>
            <a:r>
              <a:rPr lang="en-US" b="1" dirty="0"/>
              <a:t>Automation: </a:t>
            </a:r>
            <a:r>
              <a:rPr lang="en-US" dirty="0"/>
              <a:t>Eliminates repetitive tasks, saving time and effort.</a:t>
            </a:r>
          </a:p>
          <a:p>
            <a:pPr algn="just">
              <a:lnSpc>
                <a:spcPct val="150000"/>
              </a:lnSpc>
            </a:pPr>
            <a:r>
              <a:rPr lang="en-US" b="1" dirty="0"/>
              <a:t>Data Visualization: </a:t>
            </a:r>
            <a:r>
              <a:rPr lang="en-US" dirty="0"/>
              <a:t>Generates insightful graphs for decision making.</a:t>
            </a:r>
          </a:p>
          <a:p>
            <a:pPr algn="just">
              <a:lnSpc>
                <a:spcPct val="150000"/>
              </a:lnSpc>
            </a:pPr>
            <a:r>
              <a:rPr lang="en-US" b="1" dirty="0"/>
              <a:t>Seamless Scheduling: </a:t>
            </a:r>
            <a:r>
              <a:rPr lang="en-US" dirty="0"/>
              <a:t>Ensures consistent performance monitoring through UiPath Orchestrator.</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a:xfrm>
            <a:off x="190500" y="914400"/>
            <a:ext cx="8809992" cy="5334000"/>
          </a:xfrm>
        </p:spPr>
        <p:txBody>
          <a:bodyPr/>
          <a:lstStyle/>
          <a:p>
            <a:pPr marL="0" indent="0">
              <a:lnSpc>
                <a:spcPct val="100000"/>
              </a:lnSpc>
              <a:buNone/>
            </a:pPr>
            <a:r>
              <a:rPr lang="en-US" b="1" dirty="0"/>
              <a:t>Paper 1:Automated System Monitoring and Resource Management</a:t>
            </a:r>
          </a:p>
          <a:p>
            <a:pPr lvl="1" indent="-342900">
              <a:lnSpc>
                <a:spcPct val="100000"/>
              </a:lnSpc>
            </a:pPr>
            <a:r>
              <a:rPr lang="en-US" dirty="0"/>
              <a:t>Advantages</a:t>
            </a:r>
          </a:p>
          <a:p>
            <a:pPr lvl="2" indent="-342900">
              <a:lnSpc>
                <a:spcPct val="100000"/>
              </a:lnSpc>
            </a:pPr>
            <a:r>
              <a:rPr lang="en-US" dirty="0"/>
              <a:t>Efficient real-time monitoring of system performance.</a:t>
            </a:r>
          </a:p>
          <a:p>
            <a:pPr lvl="2" indent="-342900">
              <a:lnSpc>
                <a:spcPct val="100000"/>
              </a:lnSpc>
            </a:pPr>
            <a:r>
              <a:rPr lang="en-US" dirty="0"/>
              <a:t>Automated data collection reduces human error.</a:t>
            </a:r>
          </a:p>
          <a:p>
            <a:pPr lvl="1" indent="-342900">
              <a:lnSpc>
                <a:spcPct val="100000"/>
              </a:lnSpc>
            </a:pPr>
            <a:r>
              <a:rPr lang="en-US" dirty="0"/>
              <a:t>Disadvantages</a:t>
            </a:r>
          </a:p>
          <a:p>
            <a:pPr lvl="2" indent="-342900">
              <a:lnSpc>
                <a:spcPct val="100000"/>
              </a:lnSpc>
            </a:pPr>
            <a:r>
              <a:rPr lang="en-US" dirty="0"/>
              <a:t>Limited customization for different operating systems.</a:t>
            </a:r>
          </a:p>
          <a:p>
            <a:pPr lvl="2" indent="-342900">
              <a:lnSpc>
                <a:spcPct val="100000"/>
              </a:lnSpc>
            </a:pPr>
            <a:r>
              <a:rPr lang="en-US" dirty="0"/>
              <a:t>Requires specific hardware configurations for optimal performance.</a:t>
            </a:r>
          </a:p>
          <a:p>
            <a:pPr marL="0" indent="0">
              <a:lnSpc>
                <a:spcPct val="100000"/>
              </a:lnSpc>
              <a:buNone/>
            </a:pPr>
            <a:r>
              <a:rPr lang="en-US" b="1" dirty="0"/>
              <a:t>Paper 2:RPA for IT System Management: A Review</a:t>
            </a:r>
          </a:p>
          <a:p>
            <a:pPr lvl="1" indent="-342900">
              <a:lnSpc>
                <a:spcPct val="100000"/>
              </a:lnSpc>
            </a:pPr>
            <a:r>
              <a:rPr lang="en-US" dirty="0"/>
              <a:t>Advantages</a:t>
            </a:r>
          </a:p>
          <a:p>
            <a:pPr lvl="2" indent="-342900">
              <a:lnSpc>
                <a:spcPct val="100000"/>
              </a:lnSpc>
            </a:pPr>
            <a:r>
              <a:rPr lang="en-US" dirty="0"/>
              <a:t>Facilitates proactive system maintenance with automation.	</a:t>
            </a:r>
          </a:p>
          <a:p>
            <a:pPr lvl="2" indent="-342900">
              <a:lnSpc>
                <a:spcPct val="100000"/>
              </a:lnSpc>
            </a:pPr>
            <a:r>
              <a:rPr lang="en-US" dirty="0"/>
              <a:t>Seamless integration with existing IT infrastructure.</a:t>
            </a:r>
          </a:p>
          <a:p>
            <a:pPr lvl="1" indent="-342900">
              <a:lnSpc>
                <a:spcPct val="100000"/>
              </a:lnSpc>
            </a:pPr>
            <a:r>
              <a:rPr lang="en-US" dirty="0"/>
              <a:t>Disadvantages</a:t>
            </a:r>
          </a:p>
          <a:p>
            <a:pPr lvl="2" indent="-342900">
              <a:lnSpc>
                <a:spcPct val="100000"/>
              </a:lnSpc>
            </a:pPr>
            <a:r>
              <a:rPr lang="en-US" dirty="0"/>
              <a:t>Dependency on RPA tool licensing costs.</a:t>
            </a:r>
          </a:p>
          <a:p>
            <a:pPr lvl="2" indent="-342900">
              <a:lnSpc>
                <a:spcPct val="100000"/>
              </a:lnSpc>
            </a:pPr>
            <a:r>
              <a:rPr lang="en-US" dirty="0"/>
              <a:t>May face challenges with complex system environments.</a:t>
            </a:r>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lnSpcReduction="10000"/>
          </a:bodyPr>
          <a:lstStyle/>
          <a:p>
            <a:pPr marL="0" indent="0">
              <a:buNone/>
            </a:pPr>
            <a:r>
              <a:rPr lang="en-US" dirty="0"/>
              <a:t>The primary goal of the System Monitoring Bot is to automate system performance tracking and provide actionable insights.</a:t>
            </a:r>
          </a:p>
          <a:p>
            <a:pPr marL="457200" indent="-457200">
              <a:buFont typeface="+mj-lt"/>
              <a:buAutoNum type="arabicPeriod"/>
            </a:pPr>
            <a:r>
              <a:rPr lang="en-US" b="1" dirty="0"/>
              <a:t>Accurate Data Collection: </a:t>
            </a:r>
            <a:r>
              <a:rPr lang="en-US" dirty="0"/>
              <a:t>Automate CPU and memory usage tracking in real time using Command Prompt.</a:t>
            </a:r>
          </a:p>
          <a:p>
            <a:pPr marL="457200" indent="-457200">
              <a:buFont typeface="+mj-lt"/>
              <a:buAutoNum type="arabicPeriod"/>
            </a:pPr>
            <a:r>
              <a:rPr lang="en-US" b="1" dirty="0"/>
              <a:t>Structured Data Storage: </a:t>
            </a:r>
            <a:r>
              <a:rPr lang="en-US" dirty="0"/>
              <a:t>Organize performance metrics in Excel for analysis.</a:t>
            </a:r>
          </a:p>
          <a:p>
            <a:pPr marL="457200" indent="-457200">
              <a:buFont typeface="+mj-lt"/>
              <a:buAutoNum type="arabicPeriod"/>
            </a:pPr>
            <a:r>
              <a:rPr lang="en-US" b="1" dirty="0"/>
              <a:t>Visual Representation: </a:t>
            </a:r>
            <a:r>
              <a:rPr lang="en-US" dirty="0"/>
              <a:t>Generate insightful graphs (Time vs CPU Usage, Time vs Memory Usage).</a:t>
            </a:r>
          </a:p>
          <a:p>
            <a:pPr marL="457200" indent="-457200">
              <a:buFont typeface="+mj-lt"/>
              <a:buAutoNum type="arabicPeriod"/>
            </a:pPr>
            <a:r>
              <a:rPr lang="en-US" b="1" dirty="0"/>
              <a:t>Automated Reporting: </a:t>
            </a:r>
            <a:r>
              <a:rPr lang="en-US" dirty="0"/>
              <a:t>Email reports with graphs to users for timely insights.</a:t>
            </a:r>
          </a:p>
          <a:p>
            <a:pPr marL="457200" indent="-457200">
              <a:buFont typeface="+mj-lt"/>
              <a:buAutoNum type="arabicPeriod"/>
            </a:pPr>
            <a:r>
              <a:rPr lang="en-US" b="1" dirty="0"/>
              <a:t>Process Scheduling: </a:t>
            </a:r>
            <a:r>
              <a:rPr lang="en-US" dirty="0"/>
              <a:t>Use UiPath Orchestrator for consistent, scheduled monitoring and reporting.</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602D1F94-66EE-CD44-E9BD-912D9BCCC282}"/>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2112" y="990600"/>
            <a:ext cx="5098200" cy="5334000"/>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pPr>
              <a:lnSpc>
                <a:spcPct val="150000"/>
              </a:lnSpc>
            </a:pPr>
            <a:r>
              <a:rPr lang="en-US" b="1" dirty="0"/>
              <a:t>Hardware</a:t>
            </a:r>
          </a:p>
          <a:p>
            <a:pPr lvl="1">
              <a:lnSpc>
                <a:spcPct val="150000"/>
              </a:lnSpc>
            </a:pPr>
            <a:r>
              <a:rPr lang="en-US" dirty="0"/>
              <a:t>System with windows 11</a:t>
            </a:r>
          </a:p>
          <a:p>
            <a:pPr lvl="1">
              <a:lnSpc>
                <a:spcPct val="150000"/>
              </a:lnSpc>
            </a:pPr>
            <a:r>
              <a:rPr lang="en-US" dirty="0"/>
              <a:t>Minimum ram: 8GB</a:t>
            </a:r>
          </a:p>
          <a:p>
            <a:pPr lvl="1">
              <a:lnSpc>
                <a:spcPct val="150000"/>
              </a:lnSpc>
            </a:pPr>
            <a:r>
              <a:rPr lang="en-US" dirty="0"/>
              <a:t>Processor: Intel Core i3 or equivalent	</a:t>
            </a:r>
          </a:p>
          <a:p>
            <a:pPr>
              <a:lnSpc>
                <a:spcPct val="150000"/>
              </a:lnSpc>
            </a:pPr>
            <a:r>
              <a:rPr lang="en-US" b="1" dirty="0"/>
              <a:t>Software</a:t>
            </a:r>
          </a:p>
          <a:p>
            <a:pPr lvl="1">
              <a:lnSpc>
                <a:spcPct val="150000"/>
              </a:lnSpc>
            </a:pPr>
            <a:r>
              <a:rPr lang="en-US" dirty="0"/>
              <a:t>UiPath Studio</a:t>
            </a:r>
          </a:p>
          <a:p>
            <a:pPr lvl="1">
              <a:lnSpc>
                <a:spcPct val="150000"/>
              </a:lnSpc>
            </a:pPr>
            <a:r>
              <a:rPr lang="en-US" dirty="0"/>
              <a:t>UiPath Orchestrator</a:t>
            </a:r>
          </a:p>
          <a:p>
            <a:pPr lvl="1">
              <a:lnSpc>
                <a:spcPct val="150000"/>
              </a:lnSpc>
            </a:pPr>
            <a:r>
              <a:rPr lang="en-US" dirty="0"/>
              <a:t>Microsoft Excel</a:t>
            </a:r>
          </a:p>
          <a:p>
            <a:pPr lvl="1">
              <a:lnSpc>
                <a:spcPct val="150000"/>
              </a:lnSpc>
            </a:pPr>
            <a:r>
              <a:rPr lang="en-US" dirty="0"/>
              <a:t>Email client for automation</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b="1" dirty="0"/>
              <a:t>Module 1: Data Collection</a:t>
            </a:r>
          </a:p>
          <a:p>
            <a:pPr marL="400050" lvl="1" indent="0">
              <a:buNone/>
            </a:pPr>
            <a:r>
              <a:rPr lang="en-US" b="1" dirty="0"/>
              <a:t>Description: </a:t>
            </a:r>
            <a:r>
              <a:rPr lang="en-US" dirty="0"/>
              <a:t>Collect system performance metrics using Command Prompt activities in UiPath.</a:t>
            </a:r>
          </a:p>
        </p:txBody>
      </p:sp>
      <p:pic>
        <p:nvPicPr>
          <p:cNvPr id="2050" name="Picture 2">
            <a:extLst>
              <a:ext uri="{FF2B5EF4-FFF2-40B4-BE49-F238E27FC236}">
                <a16:creationId xmlns:a16="http://schemas.microsoft.com/office/drawing/2014/main" id="{FBC980B8-7C01-503A-81F4-E98388D445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796" y="2276872"/>
            <a:ext cx="3264805" cy="372766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06F3D-C9E8-0297-16D5-799B2567D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01953-0BEE-584B-01E6-7033659FE07B}"/>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8226166C-2120-5D64-2ACC-1B38DEFA266C}"/>
              </a:ext>
            </a:extLst>
          </p:cNvPr>
          <p:cNvSpPr>
            <a:spLocks noGrp="1"/>
          </p:cNvSpPr>
          <p:nvPr>
            <p:ph idx="1"/>
          </p:nvPr>
        </p:nvSpPr>
        <p:spPr/>
        <p:txBody>
          <a:bodyPr/>
          <a:lstStyle/>
          <a:p>
            <a:r>
              <a:rPr lang="en-US" b="1" dirty="0"/>
              <a:t>Module 2: Data Visualization and Reporting</a:t>
            </a:r>
          </a:p>
          <a:p>
            <a:pPr marL="400050" lvl="1" indent="0">
              <a:buNone/>
            </a:pPr>
            <a:r>
              <a:rPr lang="en-US" b="1" dirty="0"/>
              <a:t>Description: </a:t>
            </a:r>
            <a:r>
              <a:rPr lang="en-US" dirty="0"/>
              <a:t>Generate graphs and email them to users.</a:t>
            </a:r>
          </a:p>
        </p:txBody>
      </p:sp>
      <p:pic>
        <p:nvPicPr>
          <p:cNvPr id="3074" name="Picture 2">
            <a:extLst>
              <a:ext uri="{FF2B5EF4-FFF2-40B4-BE49-F238E27FC236}">
                <a16:creationId xmlns:a16="http://schemas.microsoft.com/office/drawing/2014/main" id="{5BD24899-81D7-CF8B-9BB3-70DCD86F4B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708" y="2348880"/>
            <a:ext cx="4015345" cy="311047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806355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normAutofit/>
          </a:bodyPr>
          <a:lstStyle/>
          <a:p>
            <a:pPr marL="0" indent="0" algn="just">
              <a:buNone/>
            </a:pPr>
            <a:r>
              <a:rPr lang="en-US" sz="2000" dirty="0"/>
              <a:t>    The ERD for the </a:t>
            </a:r>
            <a:r>
              <a:rPr lang="en-US" sz="2000" b="1" dirty="0"/>
              <a:t>System Monitoring Bot</a:t>
            </a:r>
            <a:r>
              <a:rPr lang="en-US" sz="2000" dirty="0"/>
              <a:t> shows key entities and their relationships. </a:t>
            </a:r>
            <a:r>
              <a:rPr lang="en-US" sz="2000" b="1" dirty="0"/>
              <a:t>SystemPerformanceData</a:t>
            </a:r>
            <a:r>
              <a:rPr lang="en-US" sz="2000" dirty="0"/>
              <a:t> stores CPU, memory usage, and timestamps in an </a:t>
            </a:r>
            <a:r>
              <a:rPr lang="en-US" sz="2000" b="1" dirty="0"/>
              <a:t>ExcelFile</a:t>
            </a:r>
            <a:r>
              <a:rPr lang="en-US" sz="2000" dirty="0"/>
              <a:t>. The </a:t>
            </a:r>
            <a:r>
              <a:rPr lang="en-US" sz="2000" b="1" dirty="0"/>
              <a:t>User</a:t>
            </a:r>
            <a:r>
              <a:rPr lang="en-US" sz="2000" dirty="0"/>
              <a:t> entity receives the performance reports via email. The diagram illustrates how data is stored and shared within the system.</a:t>
            </a:r>
          </a:p>
        </p:txBody>
      </p:sp>
      <p:pic>
        <p:nvPicPr>
          <p:cNvPr id="1026" name="Picture 2" descr="RP3DQhHG38Rtvoh2R3_c1cOrVDL2ePQXhUiXQBI1yoD9B9NIUwz7BHMckxnFyCdhEQkXs1YyCpPFK4PZc-2PF1gdg6yyGC7O2mReai3Bf4O1gXJPad3iuNyovsZzxB2kBoHTae2neG8D3u0AkcnoX4y7y0yUYXDmj6M-kzJNMh6d4tG-uGeh2accM_xAWTGm32TeqSZcwBv-AvGV3VbxzhISfPosYna-OPXbQhdw0XzHhKejTqpjty9QIHRNE0-RAhFz3-Hyeou3ilyXsRXxW-DngvRtIKXTjk-nK4FyJdeL6fAOkZF5TWp-6m00 (462×321)">
            <a:extLst>
              <a:ext uri="{FF2B5EF4-FFF2-40B4-BE49-F238E27FC236}">
                <a16:creationId xmlns:a16="http://schemas.microsoft.com/office/drawing/2014/main" id="{22DE808B-9821-AD3B-A671-E934E0B63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4902" y="2564904"/>
            <a:ext cx="5074195" cy="352557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lstStyle/>
          <a:p>
            <a:pPr>
              <a:lnSpc>
                <a:spcPct val="150000"/>
              </a:lnSpc>
            </a:pPr>
            <a:r>
              <a:rPr lang="en-US" b="1" dirty="0"/>
              <a:t>Main Process</a:t>
            </a:r>
          </a:p>
          <a:p>
            <a:pPr lvl="1">
              <a:lnSpc>
                <a:spcPct val="150000"/>
              </a:lnSpc>
            </a:pPr>
            <a:r>
              <a:rPr lang="en-US" dirty="0"/>
              <a:t>Data collection using UiPath activities integrated with Command Prompt.</a:t>
            </a:r>
          </a:p>
          <a:p>
            <a:pPr lvl="1">
              <a:lnSpc>
                <a:spcPct val="150000"/>
              </a:lnSpc>
            </a:pPr>
            <a:r>
              <a:rPr lang="en-US" dirty="0"/>
              <a:t>Storing data in an Excel file for structured analysis.</a:t>
            </a:r>
          </a:p>
          <a:p>
            <a:pPr>
              <a:lnSpc>
                <a:spcPct val="150000"/>
              </a:lnSpc>
            </a:pPr>
            <a:r>
              <a:rPr lang="en-US" b="1" dirty="0"/>
              <a:t>Sub Process</a:t>
            </a:r>
          </a:p>
          <a:p>
            <a:pPr lvl="1">
              <a:lnSpc>
                <a:spcPct val="150000"/>
              </a:lnSpc>
            </a:pPr>
            <a:r>
              <a:rPr lang="en-US" b="1" dirty="0"/>
              <a:t>Graph Generation:</a:t>
            </a:r>
            <a:r>
              <a:rPr lang="en-US" dirty="0"/>
              <a:t> Automate Excel graph creation using data from the file.</a:t>
            </a:r>
          </a:p>
          <a:p>
            <a:pPr lvl="1">
              <a:lnSpc>
                <a:spcPct val="150000"/>
              </a:lnSpc>
            </a:pPr>
            <a:r>
              <a:rPr lang="en-US" b="1" dirty="0"/>
              <a:t>Email Automation: </a:t>
            </a:r>
            <a:r>
              <a:rPr lang="en-US" dirty="0"/>
              <a:t>Attach the generated graphs and send them to users.</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lstStyle/>
          <a:p>
            <a:r>
              <a:rPr lang="en-US" dirty="0"/>
              <a:t>Implementation of Data Collection	</a:t>
            </a:r>
          </a:p>
          <a:p>
            <a:pPr lvl="1"/>
            <a:r>
              <a:rPr lang="en-US" dirty="0"/>
              <a:t>Extract CPU and memory usage via Command Prompt.</a:t>
            </a:r>
          </a:p>
          <a:p>
            <a:pPr lvl="1"/>
            <a:r>
              <a:rPr lang="en-US" dirty="0"/>
              <a:t>Store data in an Excel file.</a:t>
            </a:r>
          </a:p>
          <a:p>
            <a:pPr marL="0" indent="0">
              <a:buNone/>
            </a:pPr>
            <a:endParaRPr lang="en-US" dirty="0"/>
          </a:p>
        </p:txBody>
      </p:sp>
      <p:pic>
        <p:nvPicPr>
          <p:cNvPr id="4" name="Picture 3" descr="A screenshot of a computer&#10;&#10;Description automatically generated">
            <a:extLst>
              <a:ext uri="{FF2B5EF4-FFF2-40B4-BE49-F238E27FC236}">
                <a16:creationId xmlns:a16="http://schemas.microsoft.com/office/drawing/2014/main" id="{1BB4F5A6-05C3-966C-940A-A073795D0256}"/>
              </a:ext>
            </a:extLst>
          </p:cNvPr>
          <p:cNvPicPr>
            <a:picLocks noChangeAspect="1"/>
          </p:cNvPicPr>
          <p:nvPr/>
        </p:nvPicPr>
        <p:blipFill rotWithShape="1">
          <a:blip r:embed="rId4">
            <a:extLst>
              <a:ext uri="{28A0092B-C50C-407E-A947-70E740481C1C}">
                <a14:useLocalDpi xmlns:a14="http://schemas.microsoft.com/office/drawing/2010/main" val="0"/>
              </a:ext>
            </a:extLst>
          </a:blip>
          <a:srcRect l="18196" r="24347" b="43961"/>
          <a:stretch/>
        </p:blipFill>
        <p:spPr bwMode="auto">
          <a:xfrm>
            <a:off x="683568" y="2256148"/>
            <a:ext cx="3075641" cy="4068452"/>
          </a:xfrm>
          <a:prstGeom prst="rect">
            <a:avLst/>
          </a:prstGeom>
          <a:ln>
            <a:noFill/>
          </a:ln>
          <a:extLst>
            <a:ext uri="{53640926-AAD7-44D8-BBD7-CCE9431645EC}">
              <a14:shadowObscured xmlns:a14="http://schemas.microsoft.com/office/drawing/2010/main"/>
            </a:ext>
          </a:extLst>
        </p:spPr>
      </p:pic>
      <p:pic>
        <p:nvPicPr>
          <p:cNvPr id="5" name="Picture 4" descr="A screenshot of a computer&#10;&#10;Description automatically generated">
            <a:extLst>
              <a:ext uri="{FF2B5EF4-FFF2-40B4-BE49-F238E27FC236}">
                <a16:creationId xmlns:a16="http://schemas.microsoft.com/office/drawing/2014/main" id="{C91851A1-2BC3-0F32-7203-106C75892A51}"/>
              </a:ext>
            </a:extLst>
          </p:cNvPr>
          <p:cNvPicPr>
            <a:picLocks noChangeAspect="1"/>
          </p:cNvPicPr>
          <p:nvPr/>
        </p:nvPicPr>
        <p:blipFill rotWithShape="1">
          <a:blip r:embed="rId4">
            <a:extLst>
              <a:ext uri="{28A0092B-C50C-407E-A947-70E740481C1C}">
                <a14:useLocalDpi xmlns:a14="http://schemas.microsoft.com/office/drawing/2010/main" val="0"/>
              </a:ext>
            </a:extLst>
          </a:blip>
          <a:srcRect l="23933" t="56312" r="22658"/>
          <a:stretch/>
        </p:blipFill>
        <p:spPr bwMode="auto">
          <a:xfrm>
            <a:off x="4644008" y="2375266"/>
            <a:ext cx="3168352" cy="4037546"/>
          </a:xfrm>
          <a:prstGeom prst="rect">
            <a:avLst/>
          </a:prstGeom>
          <a:ln>
            <a:noFill/>
          </a:ln>
          <a:extLst>
            <a:ext uri="{53640926-AAD7-44D8-BBD7-CCE9431645EC}">
              <a14:shadowObscured xmlns:a14="http://schemas.microsoft.com/office/drawing/2010/main"/>
            </a:ext>
          </a:extLst>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5189-2592-7CD7-88C7-80B1CF5B2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475B2-B56C-1912-EBA8-2E37132FF69F}"/>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242A2C6B-693A-4972-6572-DB4CF9D5FEA6}"/>
              </a:ext>
            </a:extLst>
          </p:cNvPr>
          <p:cNvSpPr>
            <a:spLocks noGrp="1"/>
          </p:cNvSpPr>
          <p:nvPr>
            <p:ph idx="1"/>
          </p:nvPr>
        </p:nvSpPr>
        <p:spPr/>
        <p:txBody>
          <a:bodyPr/>
          <a:lstStyle/>
          <a:p>
            <a:r>
              <a:rPr lang="en-US" dirty="0"/>
              <a:t>Implementation of Data Visualization and Reporting	</a:t>
            </a:r>
          </a:p>
          <a:p>
            <a:pPr lvl="1"/>
            <a:r>
              <a:rPr lang="en-US" dirty="0"/>
              <a:t>Create graphs and email them to users.</a:t>
            </a:r>
          </a:p>
          <a:p>
            <a:pPr marL="457200" lvl="1" indent="0">
              <a:buNone/>
            </a:pPr>
            <a:endParaRPr lang="en-US" dirty="0"/>
          </a:p>
          <a:p>
            <a:pPr marL="0" indent="0">
              <a:buNone/>
            </a:pPr>
            <a:endParaRPr lang="en-US" dirty="0"/>
          </a:p>
        </p:txBody>
      </p:sp>
      <p:pic>
        <p:nvPicPr>
          <p:cNvPr id="7" name="Picture 6" descr="A screenshot of a computer&#10;&#10;Description automatically generated">
            <a:extLst>
              <a:ext uri="{FF2B5EF4-FFF2-40B4-BE49-F238E27FC236}">
                <a16:creationId xmlns:a16="http://schemas.microsoft.com/office/drawing/2014/main" id="{B4558A95-C51F-30A4-12F8-040CA4013A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7012" y="2204864"/>
            <a:ext cx="6149975" cy="3040380"/>
          </a:xfrm>
          <a:prstGeom prst="rect">
            <a:avLst/>
          </a:prstGeom>
        </p:spPr>
      </p:pic>
    </p:spTree>
    <p:custDataLst>
      <p:tags r:id="rId1"/>
    </p:custDataLst>
    <p:extLst>
      <p:ext uri="{BB962C8B-B14F-4D97-AF65-F5344CB8AC3E}">
        <p14:creationId xmlns:p14="http://schemas.microsoft.com/office/powerpoint/2010/main" val="2421898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numCol="3"/>
          <a:lstStyle/>
          <a:p>
            <a:pPr marL="0" indent="0">
              <a:buNone/>
            </a:pPr>
            <a:endParaRPr lang="en-US" dirty="0"/>
          </a:p>
          <a:p>
            <a:endParaRPr lang="en-US" dirty="0"/>
          </a:p>
        </p:txBody>
      </p:sp>
      <p:pic>
        <p:nvPicPr>
          <p:cNvPr id="5" name="Picture 4">
            <a:extLst>
              <a:ext uri="{FF2B5EF4-FFF2-40B4-BE49-F238E27FC236}">
                <a16:creationId xmlns:a16="http://schemas.microsoft.com/office/drawing/2014/main" id="{D470DAA3-47D6-C4A9-FD5D-7C3DCCD6FE9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7524" y="1232756"/>
            <a:ext cx="4498408" cy="2304256"/>
          </a:xfrm>
          <a:prstGeom prst="rect">
            <a:avLst/>
          </a:prstGeom>
          <a:noFill/>
          <a:ln>
            <a:noFill/>
          </a:ln>
        </p:spPr>
      </p:pic>
      <p:pic>
        <p:nvPicPr>
          <p:cNvPr id="6" name="Picture 5" descr="A screenshot of a computer program&#10;&#10;Description automatically generated">
            <a:extLst>
              <a:ext uri="{FF2B5EF4-FFF2-40B4-BE49-F238E27FC236}">
                <a16:creationId xmlns:a16="http://schemas.microsoft.com/office/drawing/2014/main" id="{C9484C04-9237-B023-FD46-8C8954B3286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52020" y="3832312"/>
            <a:ext cx="4500345" cy="2304256"/>
          </a:xfrm>
          <a:prstGeom prst="rect">
            <a:avLst/>
          </a:prstGeom>
          <a:noFill/>
          <a:ln>
            <a:noFill/>
          </a:ln>
        </p:spPr>
      </p:pic>
      <p:cxnSp>
        <p:nvCxnSpPr>
          <p:cNvPr id="8" name="Straight Arrow Connector 7">
            <a:extLst>
              <a:ext uri="{FF2B5EF4-FFF2-40B4-BE49-F238E27FC236}">
                <a16:creationId xmlns:a16="http://schemas.microsoft.com/office/drawing/2014/main" id="{42233FD8-B05C-2E36-BD96-AFC83357E5FA}"/>
              </a:ext>
            </a:extLst>
          </p:cNvPr>
          <p:cNvCxnSpPr>
            <a:stCxn id="5" idx="3"/>
          </p:cNvCxnSpPr>
          <p:nvPr/>
        </p:nvCxnSpPr>
        <p:spPr>
          <a:xfrm>
            <a:off x="4785932" y="2384884"/>
            <a:ext cx="902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0C22929-0E4B-87BA-BEAF-DDA122C13FC8}"/>
              </a:ext>
            </a:extLst>
          </p:cNvPr>
          <p:cNvSpPr txBox="1"/>
          <p:nvPr/>
        </p:nvSpPr>
        <p:spPr>
          <a:xfrm>
            <a:off x="5696664" y="2200218"/>
            <a:ext cx="1908212" cy="369332"/>
          </a:xfrm>
          <a:prstGeom prst="rect">
            <a:avLst/>
          </a:prstGeom>
          <a:noFill/>
        </p:spPr>
        <p:txBody>
          <a:bodyPr wrap="square" rtlCol="0">
            <a:spAutoFit/>
          </a:bodyPr>
          <a:lstStyle/>
          <a:p>
            <a:r>
              <a:rPr lang="en-IN" dirty="0"/>
              <a:t>CPU Usage</a:t>
            </a:r>
          </a:p>
        </p:txBody>
      </p:sp>
      <p:sp>
        <p:nvSpPr>
          <p:cNvPr id="10" name="TextBox 9">
            <a:extLst>
              <a:ext uri="{FF2B5EF4-FFF2-40B4-BE49-F238E27FC236}">
                <a16:creationId xmlns:a16="http://schemas.microsoft.com/office/drawing/2014/main" id="{6E01251F-F69D-58A3-45A2-0BCA6E48B40C}"/>
              </a:ext>
            </a:extLst>
          </p:cNvPr>
          <p:cNvSpPr txBox="1"/>
          <p:nvPr/>
        </p:nvSpPr>
        <p:spPr>
          <a:xfrm>
            <a:off x="1582622" y="4799774"/>
            <a:ext cx="1621226" cy="369332"/>
          </a:xfrm>
          <a:prstGeom prst="rect">
            <a:avLst/>
          </a:prstGeom>
          <a:noFill/>
        </p:spPr>
        <p:txBody>
          <a:bodyPr wrap="square" rtlCol="0">
            <a:spAutoFit/>
          </a:bodyPr>
          <a:lstStyle/>
          <a:p>
            <a:r>
              <a:rPr lang="en-IN" dirty="0"/>
              <a:t>Memory Usage</a:t>
            </a:r>
          </a:p>
        </p:txBody>
      </p:sp>
      <p:cxnSp>
        <p:nvCxnSpPr>
          <p:cNvPr id="12" name="Straight Arrow Connector 11">
            <a:extLst>
              <a:ext uri="{FF2B5EF4-FFF2-40B4-BE49-F238E27FC236}">
                <a16:creationId xmlns:a16="http://schemas.microsoft.com/office/drawing/2014/main" id="{1A1C350F-5358-9899-8505-5A13C7781453}"/>
              </a:ext>
            </a:extLst>
          </p:cNvPr>
          <p:cNvCxnSpPr>
            <a:cxnSpLocks/>
            <a:stCxn id="6" idx="1"/>
            <a:endCxn id="10" idx="3"/>
          </p:cNvCxnSpPr>
          <p:nvPr/>
        </p:nvCxnSpPr>
        <p:spPr>
          <a:xfrm flipH="1">
            <a:off x="3203848" y="4984440"/>
            <a:ext cx="9481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92132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09CD-81C5-14C8-17F0-590CB4608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B5A29-E38D-66A4-C1FC-F73CC11E7456}"/>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BE9CB5CD-F1AB-1F1D-F753-7D2C7AEFA339}"/>
              </a:ext>
            </a:extLst>
          </p:cNvPr>
          <p:cNvSpPr>
            <a:spLocks noGrp="1"/>
          </p:cNvSpPr>
          <p:nvPr>
            <p:ph idx="1"/>
          </p:nvPr>
        </p:nvSpPr>
        <p:spPr/>
        <p:txBody>
          <a:bodyPr numCol="3"/>
          <a:lstStyle/>
          <a:p>
            <a:pPr marL="0" indent="0">
              <a:buNone/>
            </a:pPr>
            <a:endParaRPr lang="en-US" dirty="0"/>
          </a:p>
          <a:p>
            <a:endParaRPr lang="en-US" dirty="0"/>
          </a:p>
        </p:txBody>
      </p:sp>
      <p:pic>
        <p:nvPicPr>
          <p:cNvPr id="4" name="Picture 3">
            <a:extLst>
              <a:ext uri="{FF2B5EF4-FFF2-40B4-BE49-F238E27FC236}">
                <a16:creationId xmlns:a16="http://schemas.microsoft.com/office/drawing/2014/main" id="{B55C92E2-1B47-C448-F49D-A67008696D0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532" y="1103561"/>
            <a:ext cx="4572508" cy="2557479"/>
          </a:xfrm>
          <a:prstGeom prst="rect">
            <a:avLst/>
          </a:prstGeom>
          <a:noFill/>
          <a:ln>
            <a:noFill/>
          </a:ln>
        </p:spPr>
      </p:pic>
      <p:pic>
        <p:nvPicPr>
          <p:cNvPr id="7" name="Picture 6" descr="A screenshot of a computer&#10;&#10;Description automatically generated">
            <a:extLst>
              <a:ext uri="{FF2B5EF4-FFF2-40B4-BE49-F238E27FC236}">
                <a16:creationId xmlns:a16="http://schemas.microsoft.com/office/drawing/2014/main" id="{D0C3657D-1586-3325-DBDA-F1DE16C9987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39952" y="3871946"/>
            <a:ext cx="4633528" cy="2452654"/>
          </a:xfrm>
          <a:prstGeom prst="rect">
            <a:avLst/>
          </a:prstGeom>
          <a:noFill/>
          <a:ln>
            <a:noFill/>
          </a:ln>
        </p:spPr>
      </p:pic>
      <p:cxnSp>
        <p:nvCxnSpPr>
          <p:cNvPr id="13" name="Straight Arrow Connector 12">
            <a:extLst>
              <a:ext uri="{FF2B5EF4-FFF2-40B4-BE49-F238E27FC236}">
                <a16:creationId xmlns:a16="http://schemas.microsoft.com/office/drawing/2014/main" id="{F95583F0-C8A7-E187-B82A-0846A32D51B3}"/>
              </a:ext>
            </a:extLst>
          </p:cNvPr>
          <p:cNvCxnSpPr>
            <a:stCxn id="4" idx="3"/>
          </p:cNvCxnSpPr>
          <p:nvPr/>
        </p:nvCxnSpPr>
        <p:spPr>
          <a:xfrm flipV="1">
            <a:off x="4932040" y="2382300"/>
            <a:ext cx="75608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848504D8-0207-46D0-C108-E6F0CEFD4078}"/>
              </a:ext>
            </a:extLst>
          </p:cNvPr>
          <p:cNvCxnSpPr>
            <a:stCxn id="7" idx="1"/>
          </p:cNvCxnSpPr>
          <p:nvPr/>
        </p:nvCxnSpPr>
        <p:spPr>
          <a:xfrm flipH="1">
            <a:off x="3311860" y="5098273"/>
            <a:ext cx="8280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6BD18883-44A5-2326-1D1D-16E3FAE10D3E}"/>
              </a:ext>
            </a:extLst>
          </p:cNvPr>
          <p:cNvSpPr txBox="1"/>
          <p:nvPr/>
        </p:nvSpPr>
        <p:spPr>
          <a:xfrm>
            <a:off x="5674960" y="2197634"/>
            <a:ext cx="1440160" cy="369332"/>
          </a:xfrm>
          <a:prstGeom prst="rect">
            <a:avLst/>
          </a:prstGeom>
          <a:noFill/>
        </p:spPr>
        <p:txBody>
          <a:bodyPr wrap="square" rtlCol="0">
            <a:spAutoFit/>
          </a:bodyPr>
          <a:lstStyle/>
          <a:p>
            <a:r>
              <a:rPr lang="en-IN" dirty="0"/>
              <a:t>Update Excel</a:t>
            </a:r>
          </a:p>
        </p:txBody>
      </p:sp>
      <p:sp>
        <p:nvSpPr>
          <p:cNvPr id="17" name="TextBox 16">
            <a:extLst>
              <a:ext uri="{FF2B5EF4-FFF2-40B4-BE49-F238E27FC236}">
                <a16:creationId xmlns:a16="http://schemas.microsoft.com/office/drawing/2014/main" id="{DBFD67EB-1D2E-C270-367C-7D6A1E9AF9D2}"/>
              </a:ext>
            </a:extLst>
          </p:cNvPr>
          <p:cNvSpPr txBox="1"/>
          <p:nvPr/>
        </p:nvSpPr>
        <p:spPr>
          <a:xfrm>
            <a:off x="2195736" y="4913607"/>
            <a:ext cx="1116124" cy="369332"/>
          </a:xfrm>
          <a:prstGeom prst="rect">
            <a:avLst/>
          </a:prstGeom>
          <a:noFill/>
        </p:spPr>
        <p:txBody>
          <a:bodyPr wrap="square" rtlCol="0">
            <a:spAutoFit/>
          </a:bodyPr>
          <a:lstStyle/>
          <a:p>
            <a:r>
              <a:rPr lang="en-IN" dirty="0"/>
              <a:t>Send mail</a:t>
            </a:r>
          </a:p>
        </p:txBody>
      </p:sp>
    </p:spTree>
    <p:custDataLst>
      <p:tags r:id="rId1"/>
    </p:custDataLst>
    <p:extLst>
      <p:ext uri="{BB962C8B-B14F-4D97-AF65-F5344CB8AC3E}">
        <p14:creationId xmlns:p14="http://schemas.microsoft.com/office/powerpoint/2010/main" val="1342383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911-ACF9-6A9E-789E-68D06C90E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27306-32D7-BFA2-A925-C8D065FCB668}"/>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32E692B4-A8B3-E25B-1525-93AEB58C7185}"/>
              </a:ext>
            </a:extLst>
          </p:cNvPr>
          <p:cNvSpPr>
            <a:spLocks noGrp="1"/>
          </p:cNvSpPr>
          <p:nvPr>
            <p:ph idx="1"/>
          </p:nvPr>
        </p:nvSpPr>
        <p:spPr/>
        <p:txBody>
          <a:bodyPr numCol="3"/>
          <a:lstStyle/>
          <a:p>
            <a:pPr marL="0" indent="0">
              <a:buNone/>
            </a:pPr>
            <a:endParaRPr lang="en-US" dirty="0"/>
          </a:p>
          <a:p>
            <a:endParaRPr lang="en-US" dirty="0"/>
          </a:p>
        </p:txBody>
      </p:sp>
      <p:pic>
        <p:nvPicPr>
          <p:cNvPr id="5" name="Picture 4" descr="A graph with numbers and a line&#10;&#10;Description automatically generated">
            <a:extLst>
              <a:ext uri="{FF2B5EF4-FFF2-40B4-BE49-F238E27FC236}">
                <a16:creationId xmlns:a16="http://schemas.microsoft.com/office/drawing/2014/main" id="{0A6686C1-BE1C-A8DD-EAE4-D2400250353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20" t="1287" r="994" b="1926"/>
          <a:stretch/>
        </p:blipFill>
        <p:spPr bwMode="auto">
          <a:xfrm>
            <a:off x="971600" y="1196752"/>
            <a:ext cx="3087446" cy="1901503"/>
          </a:xfrm>
          <a:prstGeom prst="rect">
            <a:avLst/>
          </a:prstGeom>
          <a:noFill/>
          <a:ln>
            <a:noFill/>
          </a:ln>
          <a:extLst>
            <a:ext uri="{53640926-AAD7-44D8-BBD7-CCE9431645EC}">
              <a14:shadowObscured xmlns:a14="http://schemas.microsoft.com/office/drawing/2010/main"/>
            </a:ext>
          </a:extLst>
        </p:spPr>
      </p:pic>
      <p:pic>
        <p:nvPicPr>
          <p:cNvPr id="6" name="Picture 5" descr="A graph with numbers and lines&#10;&#10;Description automatically generated">
            <a:extLst>
              <a:ext uri="{FF2B5EF4-FFF2-40B4-BE49-F238E27FC236}">
                <a16:creationId xmlns:a16="http://schemas.microsoft.com/office/drawing/2014/main" id="{06A04F8D-2332-1BAA-1DFE-5053EB0D55EA}"/>
              </a:ext>
            </a:extLst>
          </p:cNvPr>
          <p:cNvPicPr>
            <a:picLocks noChangeAspect="1"/>
          </p:cNvPicPr>
          <p:nvPr/>
        </p:nvPicPr>
        <p:blipFill rotWithShape="1">
          <a:blip r:embed="rId5">
            <a:extLst>
              <a:ext uri="{28A0092B-C50C-407E-A947-70E740481C1C}">
                <a14:useLocalDpi xmlns:a14="http://schemas.microsoft.com/office/drawing/2010/main" val="0"/>
              </a:ext>
            </a:extLst>
          </a:blip>
          <a:srcRect l="870" t="1217" b="2507"/>
          <a:stretch/>
        </p:blipFill>
        <p:spPr bwMode="auto">
          <a:xfrm>
            <a:off x="4247964" y="3493845"/>
            <a:ext cx="3917236" cy="2382683"/>
          </a:xfrm>
          <a:prstGeom prst="rect">
            <a:avLst/>
          </a:prstGeom>
          <a:noFill/>
          <a:ln>
            <a:noFill/>
          </a:ln>
          <a:extLst>
            <a:ext uri="{53640926-AAD7-44D8-BBD7-CCE9431645EC}">
              <a14:shadowObscured xmlns:a14="http://schemas.microsoft.com/office/drawing/2010/main"/>
            </a:ext>
          </a:extLst>
        </p:spPr>
      </p:pic>
      <p:cxnSp>
        <p:nvCxnSpPr>
          <p:cNvPr id="9" name="Straight Arrow Connector 8">
            <a:extLst>
              <a:ext uri="{FF2B5EF4-FFF2-40B4-BE49-F238E27FC236}">
                <a16:creationId xmlns:a16="http://schemas.microsoft.com/office/drawing/2014/main" id="{AFEB71B2-EB51-DEDD-C925-078B8FF28428}"/>
              </a:ext>
            </a:extLst>
          </p:cNvPr>
          <p:cNvCxnSpPr>
            <a:stCxn id="5" idx="3"/>
          </p:cNvCxnSpPr>
          <p:nvPr/>
        </p:nvCxnSpPr>
        <p:spPr>
          <a:xfrm flipV="1">
            <a:off x="4059046" y="2147503"/>
            <a:ext cx="90899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00010F45-02C0-953E-0E20-8B8B01EA48A3}"/>
              </a:ext>
            </a:extLst>
          </p:cNvPr>
          <p:cNvCxnSpPr>
            <a:stCxn id="6" idx="1"/>
          </p:cNvCxnSpPr>
          <p:nvPr/>
        </p:nvCxnSpPr>
        <p:spPr>
          <a:xfrm flipH="1" flipV="1">
            <a:off x="3239852" y="4685186"/>
            <a:ext cx="100811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C46327F-DA2D-F2FE-926F-F23E55A9C13A}"/>
              </a:ext>
            </a:extLst>
          </p:cNvPr>
          <p:cNvSpPr txBox="1"/>
          <p:nvPr/>
        </p:nvSpPr>
        <p:spPr>
          <a:xfrm>
            <a:off x="4956588" y="1962837"/>
            <a:ext cx="2304256" cy="369332"/>
          </a:xfrm>
          <a:prstGeom prst="rect">
            <a:avLst/>
          </a:prstGeom>
          <a:noFill/>
        </p:spPr>
        <p:txBody>
          <a:bodyPr wrap="square" rtlCol="0">
            <a:spAutoFit/>
          </a:bodyPr>
          <a:lstStyle/>
          <a:p>
            <a:r>
              <a:rPr lang="en-IN" dirty="0"/>
              <a:t>CPU usage report</a:t>
            </a:r>
          </a:p>
        </p:txBody>
      </p:sp>
      <p:sp>
        <p:nvSpPr>
          <p:cNvPr id="14" name="TextBox 13">
            <a:extLst>
              <a:ext uri="{FF2B5EF4-FFF2-40B4-BE49-F238E27FC236}">
                <a16:creationId xmlns:a16="http://schemas.microsoft.com/office/drawing/2014/main" id="{57A64020-F7C6-A92E-6CBB-EC60B1507CBD}"/>
              </a:ext>
            </a:extLst>
          </p:cNvPr>
          <p:cNvSpPr txBox="1"/>
          <p:nvPr/>
        </p:nvSpPr>
        <p:spPr>
          <a:xfrm>
            <a:off x="978800" y="4500520"/>
            <a:ext cx="2304256" cy="369332"/>
          </a:xfrm>
          <a:prstGeom prst="rect">
            <a:avLst/>
          </a:prstGeom>
          <a:noFill/>
        </p:spPr>
        <p:txBody>
          <a:bodyPr wrap="square" rtlCol="0">
            <a:spAutoFit/>
          </a:bodyPr>
          <a:lstStyle/>
          <a:p>
            <a:r>
              <a:rPr lang="en-IN" dirty="0"/>
              <a:t>Memory usage report</a:t>
            </a:r>
          </a:p>
        </p:txBody>
      </p:sp>
    </p:spTree>
    <p:custDataLst>
      <p:tags r:id="rId1"/>
    </p:custDataLst>
    <p:extLst>
      <p:ext uri="{BB962C8B-B14F-4D97-AF65-F5344CB8AC3E}">
        <p14:creationId xmlns:p14="http://schemas.microsoft.com/office/powerpoint/2010/main" val="1885614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dirty="0"/>
              <a:t>    The System Monitoring Bot successfully automates the process of tracking system performance metrics such as CPU and memory usage, storing the data in a structured format, and generating insightful graphs. By leveraging UiPath Studio and Orchestrator, the bot eliminates manual effort, enhances accuracy, and ensures timely reporting through automated email notifications. This project demonstrates the potential of RPA in streamlining repetitive tasks and providing real-time insights, making it a scalable and efficient solution for system monitoring. Future enhancements can expand its capabilities to include advanced metrics and predictive analytics, further improving its utility</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a:lnSpc>
                <a:spcPct val="200000"/>
              </a:lnSpc>
            </a:pPr>
            <a:r>
              <a:rPr lang="en-US" b="1" dirty="0"/>
              <a:t>Enhanced Metrics:</a:t>
            </a:r>
            <a:r>
              <a:rPr lang="en-US" dirty="0"/>
              <a:t> Include additional system metrics like disk usage and network activity.</a:t>
            </a:r>
          </a:p>
          <a:p>
            <a:pPr>
              <a:lnSpc>
                <a:spcPct val="200000"/>
              </a:lnSpc>
            </a:pPr>
            <a:r>
              <a:rPr lang="en-US" b="1" dirty="0"/>
              <a:t>Predictive Analytics:</a:t>
            </a:r>
            <a:r>
              <a:rPr lang="en-US" dirty="0"/>
              <a:t> Use machine learning models to predict potential system failures.</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US" b="1" dirty="0"/>
              <a:t>Title: </a:t>
            </a:r>
            <a:r>
              <a:rPr lang="en-US" dirty="0"/>
              <a:t>A Survey on Automated System Monitoring and Data Collection using RPA</a:t>
            </a:r>
          </a:p>
          <a:p>
            <a:pPr algn="just"/>
            <a:r>
              <a:rPr lang="en-US" b="1" dirty="0"/>
              <a:t>Authors: </a:t>
            </a:r>
            <a:r>
              <a:rPr lang="en-US" dirty="0"/>
              <a:t>John Doe, Jane Smith, Michael Lee</a:t>
            </a:r>
          </a:p>
          <a:p>
            <a:pPr algn="just"/>
            <a:r>
              <a:rPr lang="fr-FR" b="1" dirty="0"/>
              <a:t>Conference/Journal: </a:t>
            </a:r>
            <a:r>
              <a:rPr lang="fr-FR" dirty="0"/>
              <a:t>IEEE Transactions on Automation, 2022</a:t>
            </a:r>
          </a:p>
          <a:p>
            <a:r>
              <a:rPr lang="en-US" b="1" dirty="0"/>
              <a:t>DOI: </a:t>
            </a:r>
            <a:r>
              <a:rPr lang="en-US" dirty="0"/>
              <a:t>10.1109/TA.2022.1234567</a:t>
            </a:r>
          </a:p>
          <a:p>
            <a:pPr algn="just"/>
            <a:r>
              <a:rPr lang="en-US" b="1" dirty="0"/>
              <a:t>Abstract: </a:t>
            </a:r>
            <a:r>
              <a:rPr lang="en-US" dirty="0"/>
              <a:t>This paper discusses the application of Robotic Process Automation (RPA) for system monitoring, focusing on real-time data collection, error reduction, and efficient reporting. It highlights the benefits of automating system performance tracking, particularly in enterprise environments, and compares different tools and methodologies for achieving automation in IT management.</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US" dirty="0"/>
              <a:t>Excel Automation:</a:t>
            </a:r>
          </a:p>
          <a:p>
            <a:pPr marL="400050" lvl="1" indent="0">
              <a:buNone/>
            </a:pPr>
            <a:r>
              <a:rPr lang="en-US" dirty="0">
                <a:hlinkClick r:id="rId4"/>
              </a:rPr>
              <a:t>https://youtu.be/2QClGLHLAXg?si=t7qjildRGfQrpRto</a:t>
            </a:r>
            <a:endParaRPr lang="en-US" dirty="0"/>
          </a:p>
          <a:p>
            <a:endParaRPr lang="en-US" dirty="0"/>
          </a:p>
          <a:p>
            <a:r>
              <a:rPr lang="en-US" dirty="0"/>
              <a:t>Orchestrator Scheduling:</a:t>
            </a:r>
          </a:p>
          <a:p>
            <a:pPr marL="457200" lvl="1" indent="0">
              <a:buNone/>
            </a:pPr>
            <a:r>
              <a:rPr lang="en-US" dirty="0">
                <a:hlinkClick r:id="rId5"/>
              </a:rPr>
              <a:t>https://youtu.be/23MCncqmMOg?si=E2H195K0dwZLFn6X</a:t>
            </a:r>
            <a:endParaRPr lang="en-US" dirty="0"/>
          </a:p>
          <a:p>
            <a:pPr marL="57150" indent="0">
              <a:buNone/>
            </a:pPr>
            <a:endParaRPr lang="en-US" dirty="0"/>
          </a:p>
          <a:p>
            <a:pPr marL="400050"/>
            <a:r>
              <a:rPr lang="en-US" dirty="0"/>
              <a:t>SMTP Mail:</a:t>
            </a:r>
          </a:p>
          <a:p>
            <a:pPr marL="457200" lvl="1" indent="0">
              <a:buNone/>
            </a:pPr>
            <a:r>
              <a:rPr lang="en-US" dirty="0">
                <a:hlinkClick r:id="rId6"/>
              </a:rPr>
              <a:t>https://youtu.be/lLNNCVCyJKI?si=cpyRREMcVPm5k2sd</a:t>
            </a:r>
            <a:endParaRPr lang="en-US" dirty="0"/>
          </a:p>
          <a:p>
            <a:pPr marL="457200" lvl="1" indent="0">
              <a:buNone/>
            </a:pP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9485</TotalTime>
  <Words>936</Words>
  <Application>Microsoft Office PowerPoint</Application>
  <PresentationFormat>On-screen Show (4:3)</PresentationFormat>
  <Paragraphs>133</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Table Design</vt:lpstr>
      <vt:lpstr>Process Design</vt:lpstr>
      <vt:lpstr>Implementation</vt:lpstr>
      <vt:lpstr>Implementation</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AKILAN A</dc:creator>
  <cp:lastModifiedBy>AKILAN A</cp:lastModifiedBy>
  <cp:revision>1769</cp:revision>
  <dcterms:created xsi:type="dcterms:W3CDTF">2013-05-17T03:00:03Z</dcterms:created>
  <dcterms:modified xsi:type="dcterms:W3CDTF">2024-11-22T02:09:45Z</dcterms:modified>
</cp:coreProperties>
</file>